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Welcome everyone. Today I will introduce ElecSecure and explain why it matters to our organisation and communities.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Set expectations: 20 minutes presentation, 10 minutes Q&amp;A.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Lead with outcomes, not technology. Repeat the phrase: Safety, Savings, Control.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 analogy: driving without dashboard lights.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Position as a platform, not just a device.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through each step slowly. This slide is key for non-technical audience.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Make it inclusive: even non-project staff can be connectors.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Keep numbers high-level. Emphasise timing advantage.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One-liner: We protect the system, not just measure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Explain recurring revenue builds long-term value.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Pause after each year for emphasis.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Year 1 is investment by design. Profitability from Year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Emphasise cross-functional execution capability.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End this section on mission and social value.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Naming risks builds leadership credibility.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Clear call to action before Q&amp;A.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floor for questions. Repeat each question for the room.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4389120"/>
            <a:ext cx="12191695" cy="109728"/>
          </a:xfrm>
          <a:prstGeom prst="rect">
            <a:avLst/>
          </a:prstGeom>
          <a:solidFill>
            <a:srgbClr val="00B8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515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400" b="1">
                <a:solidFill>
                  <a:srgbClr val="FFFFFF"/>
                </a:solidFill>
                <a:latin typeface="Calibri"/>
              </a:defRPr>
            </a:pPr>
            <a:r>
              <a:t>ElecSecure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0"/>
            <a:ext cx="10515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CCE5FF"/>
                </a:solidFill>
                <a:latin typeface="Calibri"/>
              </a:defRPr>
            </a:pPr>
            <a:r>
              <a:t>Smart Electrical Safety &amp; Energy Management</a:t>
            </a:r>
          </a:p>
          <a:p>
            <a:pPr>
              <a:defRPr sz="2400">
                <a:solidFill>
                  <a:srgbClr val="CCE5FF"/>
                </a:solidFill>
                <a:latin typeface="Calibri"/>
              </a:defRPr>
            </a:pPr>
            <a:r>
              <a:t>Annual Town Hall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21792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5A6A7A"/>
                </a:solidFill>
                <a:latin typeface="Calibri"/>
              </a:defRPr>
            </a:pPr>
            <a:r>
              <a:t>Azfar Mushtaq | Managing Director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73152"/>
          </a:xfrm>
          <a:prstGeom prst="rect">
            <a:avLst/>
          </a:prstGeom>
          <a:solidFill>
            <a:srgbClr val="007A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2860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Calibri"/>
              </a:defRPr>
            </a:pPr>
            <a:r>
              <a:t>Today's 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200">
                <a:solidFill>
                  <a:srgbClr val="1A1A2E"/>
                </a:solidFill>
                <a:latin typeface="Calibri"/>
              </a:defRPr>
            </a:pPr>
            <a:r>
              <a:t>Why electrical safety and efficiency matter now</a:t>
            </a:r>
          </a:p>
          <a:p>
            <a:pPr>
              <a:spcAft>
                <a:spcPts val="1400"/>
              </a:spcAft>
              <a:defRPr sz="2200">
                <a:solidFill>
                  <a:srgbClr val="1A1A2E"/>
                </a:solidFill>
                <a:latin typeface="Calibri"/>
              </a:defRPr>
            </a:pPr>
            <a:r>
              <a:t>What ElecSecure is and how it works</a:t>
            </a:r>
          </a:p>
          <a:p>
            <a:pPr>
              <a:spcAft>
                <a:spcPts val="1400"/>
              </a:spcAft>
              <a:defRPr sz="2200">
                <a:solidFill>
                  <a:srgbClr val="1A1A2E"/>
                </a:solidFill>
                <a:latin typeface="Calibri"/>
              </a:defRPr>
            </a:pPr>
            <a:r>
              <a:t>Market opportunity and competitive edge</a:t>
            </a:r>
          </a:p>
          <a:p>
            <a:pPr>
              <a:spcAft>
                <a:spcPts val="1400"/>
              </a:spcAft>
              <a:defRPr sz="2200">
                <a:solidFill>
                  <a:srgbClr val="1A1A2E"/>
                </a:solidFill>
                <a:latin typeface="Calibri"/>
              </a:defRPr>
            </a:pPr>
            <a:r>
              <a:t>3-year roadmap and financial outlook</a:t>
            </a:r>
          </a:p>
          <a:p>
            <a:pPr>
              <a:spcAft>
                <a:spcPts val="1400"/>
              </a:spcAft>
              <a:defRPr sz="2200">
                <a:solidFill>
                  <a:srgbClr val="1A1A2E"/>
                </a:solidFill>
                <a:latin typeface="Calibri"/>
              </a:defRPr>
            </a:pPr>
            <a:r>
              <a:t>Team, impact, and how you can support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73152"/>
          </a:xfrm>
          <a:prstGeom prst="rect">
            <a:avLst/>
          </a:prstGeom>
          <a:solidFill>
            <a:srgbClr val="007A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2860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Calibri"/>
              </a:defRPr>
            </a:pPr>
            <a:r>
              <a:t>Why This Matters 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200">
                <a:solidFill>
                  <a:srgbClr val="1A1A2E"/>
                </a:solidFill>
                <a:latin typeface="Calibri"/>
              </a:defRPr>
            </a:pPr>
            <a:r>
              <a:t>Electricity powers every home, workplace, and public facility</a:t>
            </a:r>
          </a:p>
          <a:p>
            <a:pPr>
              <a:spcAft>
                <a:spcPts val="1400"/>
              </a:spcAft>
              <a:defRPr sz="2200">
                <a:solidFill>
                  <a:srgbClr val="1A1A2E"/>
                </a:solidFill>
                <a:latin typeface="Calibri"/>
              </a:defRPr>
            </a:pPr>
            <a:r>
              <a:t>Rising energy costs increase pressure to optimise usage</a:t>
            </a:r>
          </a:p>
          <a:p>
            <a:pPr>
              <a:spcAft>
                <a:spcPts val="1400"/>
              </a:spcAft>
              <a:defRPr sz="2200">
                <a:solidFill>
                  <a:srgbClr val="1A1A2E"/>
                </a:solidFill>
                <a:latin typeface="Calibri"/>
              </a:defRPr>
            </a:pPr>
            <a:r>
              <a:t>Electrical faults remain a major fire and downtime risk</a:t>
            </a:r>
          </a:p>
          <a:p>
            <a:pPr>
              <a:spcAft>
                <a:spcPts val="1400"/>
              </a:spcAft>
              <a:defRPr sz="2200">
                <a:solidFill>
                  <a:srgbClr val="1A1A2E"/>
                </a:solidFill>
                <a:latin typeface="Calibri"/>
              </a:defRPr>
            </a:pPr>
            <a:r>
              <a:t>Smart technology demand is accelerating across the UK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71600" y="4572000"/>
            <a:ext cx="9418320" cy="914400"/>
          </a:xfrm>
          <a:prstGeom prst="roundRect">
            <a:avLst/>
          </a:prstGeom>
          <a:solidFill>
            <a:srgbClr val="007A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800" b="1">
                <a:solidFill>
                  <a:srgbClr val="FFFFFF"/>
                </a:solidFill>
                <a:latin typeface="Calibri"/>
              </a:defRPr>
            </a:pPr>
            <a:r>
              <a:t>Safety  •  Savings  •  Control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73152"/>
          </a:xfrm>
          <a:prstGeom prst="rect">
            <a:avLst/>
          </a:prstGeom>
          <a:solidFill>
            <a:srgbClr val="007A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2860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Calibri"/>
              </a:defRPr>
            </a:pPr>
            <a:r>
              <a:t>The Problem We Are Solving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200">
                <a:solidFill>
                  <a:srgbClr val="1A1A2E"/>
                </a:solidFill>
                <a:latin typeface="Calibri"/>
              </a:defRPr>
            </a:pPr>
            <a:r>
              <a:t>Limited real-time visibility into electrical health</a:t>
            </a:r>
          </a:p>
          <a:p>
            <a:pPr>
              <a:spcAft>
                <a:spcPts val="1400"/>
              </a:spcAft>
              <a:defRPr sz="2200">
                <a:solidFill>
                  <a:srgbClr val="1A1A2E"/>
                </a:solidFill>
                <a:latin typeface="Calibri"/>
              </a:defRPr>
            </a:pPr>
            <a:r>
              <a:t>Faults are often detected too late</a:t>
            </a:r>
          </a:p>
          <a:p>
            <a:pPr>
              <a:spcAft>
                <a:spcPts val="1400"/>
              </a:spcAft>
              <a:defRPr sz="2200">
                <a:solidFill>
                  <a:srgbClr val="1A1A2E"/>
                </a:solidFill>
                <a:latin typeface="Calibri"/>
              </a:defRPr>
            </a:pPr>
            <a:r>
              <a:t>Energy waste is hidden in daily operations</a:t>
            </a:r>
          </a:p>
          <a:p>
            <a:pPr>
              <a:spcAft>
                <a:spcPts val="1400"/>
              </a:spcAft>
              <a:defRPr sz="2200">
                <a:solidFill>
                  <a:srgbClr val="1A1A2E"/>
                </a:solidFill>
                <a:latin typeface="Calibri"/>
              </a:defRPr>
            </a:pPr>
            <a:r>
              <a:t>Smart homes lack integrated electrical protection</a:t>
            </a:r>
          </a:p>
          <a:p>
            <a:pPr>
              <a:spcAft>
                <a:spcPts val="1400"/>
              </a:spcAft>
              <a:defRPr sz="2200">
                <a:solidFill>
                  <a:srgbClr val="1A1A2E"/>
                </a:solidFill>
                <a:latin typeface="Calibri"/>
              </a:defRPr>
            </a:pPr>
            <a:r>
              <a:t>No unified platform for safety + efficiency + remote control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73152"/>
          </a:xfrm>
          <a:prstGeom prst="rect">
            <a:avLst/>
          </a:prstGeom>
          <a:solidFill>
            <a:srgbClr val="007A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2860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Calibri"/>
              </a:defRPr>
            </a:pPr>
            <a:r>
              <a:t>Introducing ElecSecure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5303520" cy="4389120"/>
          </a:xfrm>
          <a:prstGeom prst="roundRect">
            <a:avLst/>
          </a:prstGeom>
          <a:solidFill>
            <a:srgbClr val="F4F6F8"/>
          </a:solidFill>
          <a:ln>
            <a:solidFill>
              <a:srgbClr val="DD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45920"/>
            <a:ext cx="47548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 b="1">
                <a:solidFill>
                  <a:srgbClr val="0B1F3A"/>
                </a:solidFill>
                <a:latin typeface="Calibri"/>
              </a:defRPr>
            </a:pPr>
            <a:r>
              <a:t>What it is</a:t>
            </a:r>
          </a:p>
          <a:p>
            <a:pPr>
              <a:spcAft>
                <a:spcPts val="800"/>
              </a:spcAft>
              <a:defRPr sz="1800">
                <a:solidFill>
                  <a:srgbClr val="1A1A2E"/>
                </a:solidFill>
                <a:latin typeface="Calibri"/>
              </a:defRPr>
            </a:pPr>
            <a:r>
              <a:t>Integrated smart electrical platform</a:t>
            </a:r>
          </a:p>
          <a:p>
            <a:pPr>
              <a:spcAft>
                <a:spcPts val="800"/>
              </a:spcAft>
              <a:defRPr sz="1800">
                <a:solidFill>
                  <a:srgbClr val="1A1A2E"/>
                </a:solidFill>
                <a:latin typeface="Calibri"/>
              </a:defRPr>
            </a:pPr>
            <a:r>
              <a:t>Hardware + mobile app + cloud analytics</a:t>
            </a:r>
          </a:p>
          <a:p>
            <a:pPr>
              <a:spcAft>
                <a:spcPts val="800"/>
              </a:spcAft>
              <a:defRPr sz="1800">
                <a:solidFill>
                  <a:srgbClr val="1A1A2E"/>
                </a:solidFill>
                <a:latin typeface="Calibri"/>
              </a:defRPr>
            </a:pPr>
            <a:r>
              <a:t>Built for homes and businesses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0" y="1371600"/>
            <a:ext cx="5303520" cy="4389120"/>
          </a:xfrm>
          <a:prstGeom prst="roundRect">
            <a:avLst/>
          </a:prstGeom>
          <a:solidFill>
            <a:srgbClr val="F4F6F8"/>
          </a:solidFill>
          <a:ln>
            <a:solidFill>
              <a:srgbClr val="DD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17920" y="1645920"/>
            <a:ext cx="47548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 b="1">
                <a:solidFill>
                  <a:srgbClr val="0B1F3A"/>
                </a:solidFill>
                <a:latin typeface="Calibri"/>
              </a:defRPr>
            </a:pPr>
            <a:r>
              <a:t>What it does</a:t>
            </a:r>
          </a:p>
          <a:p>
            <a:pPr>
              <a:spcAft>
                <a:spcPts val="800"/>
              </a:spcAft>
              <a:defRPr sz="1800">
                <a:solidFill>
                  <a:srgbClr val="1A1A2E"/>
                </a:solidFill>
                <a:latin typeface="Calibri"/>
              </a:defRPr>
            </a:pPr>
            <a:r>
              <a:t>Detects faults before they escalate</a:t>
            </a:r>
          </a:p>
          <a:p>
            <a:pPr>
              <a:spcAft>
                <a:spcPts val="800"/>
              </a:spcAft>
              <a:defRPr sz="1800">
                <a:solidFill>
                  <a:srgbClr val="1A1A2E"/>
                </a:solidFill>
                <a:latin typeface="Calibri"/>
              </a:defRPr>
            </a:pPr>
            <a:r>
              <a:t>Monitors energy use in real time</a:t>
            </a:r>
          </a:p>
          <a:p>
            <a:pPr>
              <a:spcAft>
                <a:spcPts val="800"/>
              </a:spcAft>
              <a:defRPr sz="1800">
                <a:solidFill>
                  <a:srgbClr val="1A1A2E"/>
                </a:solidFill>
                <a:latin typeface="Calibri"/>
              </a:defRPr>
            </a:pPr>
            <a:r>
              <a:t>Enables remote control and alerts</a:t>
            </a:r>
          </a:p>
          <a:p>
            <a:pPr>
              <a:spcAft>
                <a:spcPts val="800"/>
              </a:spcAft>
              <a:defRPr sz="1800">
                <a:solidFill>
                  <a:srgbClr val="1A1A2E"/>
                </a:solidFill>
                <a:latin typeface="Calibri"/>
              </a:defRPr>
            </a:pPr>
            <a:r>
              <a:t>Integrates with smart home systems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73152"/>
          </a:xfrm>
          <a:prstGeom prst="rect">
            <a:avLst/>
          </a:prstGeom>
          <a:solidFill>
            <a:srgbClr val="007A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2860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Calibri"/>
              </a:defRPr>
            </a:pPr>
            <a:r>
              <a:t>How It Works</a:t>
            </a:r>
          </a:p>
        </p:txBody>
      </p:sp>
      <p:sp>
        <p:nvSpPr>
          <p:cNvPr id="5" name="Oval 4"/>
          <p:cNvSpPr/>
          <p:nvPr/>
        </p:nvSpPr>
        <p:spPr>
          <a:xfrm>
            <a:off x="457200" y="1828800"/>
            <a:ext cx="822960" cy="822960"/>
          </a:xfrm>
          <a:prstGeom prst="ellipse">
            <a:avLst/>
          </a:prstGeom>
          <a:solidFill>
            <a:srgbClr val="007A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283464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0B1F3A"/>
                </a:solidFill>
              </a:defRPr>
            </a:pPr>
            <a:r>
              <a:t>Sense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" y="3291840"/>
            <a:ext cx="2103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>
                <a:solidFill>
                  <a:srgbClr val="5A6A7A"/>
                </a:solidFill>
              </a:defRPr>
            </a:pPr>
            <a:r>
              <a:t>Device monitors voltage, current, temperature</a:t>
            </a:r>
          </a:p>
        </p:txBody>
      </p:sp>
      <p:sp>
        <p:nvSpPr>
          <p:cNvPr id="8" name="Right Arrow 7"/>
          <p:cNvSpPr/>
          <p:nvPr/>
        </p:nvSpPr>
        <p:spPr>
          <a:xfrm>
            <a:off x="1371600" y="2148840"/>
            <a:ext cx="640080" cy="274320"/>
          </a:xfrm>
          <a:prstGeom prst="rightArrow">
            <a:avLst/>
          </a:prstGeom>
          <a:solidFill>
            <a:srgbClr val="00B8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468880" y="1828800"/>
            <a:ext cx="822960" cy="822960"/>
          </a:xfrm>
          <a:prstGeom prst="ellipse">
            <a:avLst/>
          </a:prstGeom>
          <a:solidFill>
            <a:srgbClr val="007A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86000" y="283464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0B1F3A"/>
                </a:solidFill>
              </a:defRPr>
            </a:pPr>
            <a:r>
              <a:t>Detect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48840" y="3291840"/>
            <a:ext cx="2103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>
                <a:solidFill>
                  <a:srgbClr val="5A6A7A"/>
                </a:solidFill>
              </a:defRPr>
            </a:pPr>
            <a:r>
              <a:t>AI + rules identify abnormal patterns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3383280" y="2148840"/>
            <a:ext cx="640080" cy="274320"/>
          </a:xfrm>
          <a:prstGeom prst="rightArrow">
            <a:avLst/>
          </a:prstGeom>
          <a:solidFill>
            <a:srgbClr val="00B8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480560" y="1828800"/>
            <a:ext cx="822960" cy="822960"/>
          </a:xfrm>
          <a:prstGeom prst="ellipse">
            <a:avLst/>
          </a:prstGeom>
          <a:solidFill>
            <a:srgbClr val="007A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283464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0B1F3A"/>
                </a:solidFill>
              </a:defRPr>
            </a:pPr>
            <a:r>
              <a:t>Alert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60520" y="3291840"/>
            <a:ext cx="2103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>
                <a:solidFill>
                  <a:srgbClr val="5A6A7A"/>
                </a:solidFill>
              </a:defRPr>
            </a:pPr>
            <a:r>
              <a:t>Users receive instant mobile notifications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5394960" y="2148840"/>
            <a:ext cx="640080" cy="274320"/>
          </a:xfrm>
          <a:prstGeom prst="rightArrow">
            <a:avLst/>
          </a:prstGeom>
          <a:solidFill>
            <a:srgbClr val="00B8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92240" y="1828800"/>
            <a:ext cx="822960" cy="822960"/>
          </a:xfrm>
          <a:prstGeom prst="ellipse">
            <a:avLst/>
          </a:prstGeom>
          <a:solidFill>
            <a:srgbClr val="007A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59" y="283464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0B1F3A"/>
                </a:solidFill>
              </a:defRPr>
            </a:pPr>
            <a:r>
              <a:t>Act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72200" y="3291840"/>
            <a:ext cx="2103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>
                <a:solidFill>
                  <a:srgbClr val="5A6A7A"/>
                </a:solidFill>
              </a:defRPr>
            </a:pPr>
            <a:r>
              <a:t>Remote control and protective tripping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7406640" y="2148840"/>
            <a:ext cx="640080" cy="274320"/>
          </a:xfrm>
          <a:prstGeom prst="rightArrow">
            <a:avLst/>
          </a:prstGeom>
          <a:solidFill>
            <a:srgbClr val="00B8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503920" y="1828800"/>
            <a:ext cx="822960" cy="822960"/>
          </a:xfrm>
          <a:prstGeom prst="ellipse">
            <a:avLst/>
          </a:prstGeom>
          <a:solidFill>
            <a:srgbClr val="007A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1040" y="283464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0B1F3A"/>
                </a:solidFill>
              </a:defRPr>
            </a:pPr>
            <a:r>
              <a:t>Optimise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83880" y="3291840"/>
            <a:ext cx="2103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>
                <a:solidFill>
                  <a:srgbClr val="5A6A7A"/>
                </a:solidFill>
              </a:defRPr>
            </a:pPr>
            <a:r>
              <a:t>Insights reduce waste and cost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73152"/>
          </a:xfrm>
          <a:prstGeom prst="rect">
            <a:avLst/>
          </a:prstGeom>
          <a:solidFill>
            <a:srgbClr val="007A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2860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Calibri"/>
              </a:defRPr>
            </a:pPr>
            <a:r>
              <a:t>Who Benefits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463040"/>
            <a:ext cx="5303520" cy="2011680"/>
          </a:xfrm>
          <a:prstGeom prst="round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37360"/>
            <a:ext cx="47548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 b="1">
                <a:solidFill>
                  <a:srgbClr val="FFFFFF"/>
                </a:solidFill>
              </a:defRPr>
            </a:pPr>
            <a:r>
              <a:t>Families</a:t>
            </a:r>
          </a:p>
          <a:p>
            <a:pPr>
              <a:defRPr sz="1600">
                <a:solidFill>
                  <a:srgbClr val="FFFFFF"/>
                </a:solidFill>
                <a:latin typeface="Calibri"/>
              </a:defRPr>
            </a:pPr>
            <a:r>
              <a:t>Safer homes</a:t>
            </a:r>
          </a:p>
          <a:p>
            <a:pPr>
              <a:defRPr sz="1600">
                <a:solidFill>
                  <a:srgbClr val="FFFFFF"/>
                </a:solidFill>
                <a:latin typeface="Calibri"/>
              </a:defRPr>
            </a:pPr>
            <a:r>
              <a:t>Lower bills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0" y="1463040"/>
            <a:ext cx="5303520" cy="2011680"/>
          </a:xfrm>
          <a:prstGeom prst="roundRect">
            <a:avLst/>
          </a:prstGeom>
          <a:solidFill>
            <a:srgbClr val="007A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17920" y="1737360"/>
            <a:ext cx="47548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 b="1">
                <a:solidFill>
                  <a:srgbClr val="FFFFFF"/>
                </a:solidFill>
              </a:defRPr>
            </a:pPr>
            <a:r>
              <a:t>Businesses</a:t>
            </a:r>
          </a:p>
          <a:p>
            <a:pPr>
              <a:defRPr sz="1600">
                <a:solidFill>
                  <a:srgbClr val="FFFFFF"/>
                </a:solidFill>
                <a:latin typeface="Calibri"/>
              </a:defRPr>
            </a:pPr>
            <a:r>
              <a:t>Less downtime</a:t>
            </a:r>
          </a:p>
          <a:p>
            <a:pPr>
              <a:defRPr sz="1600">
                <a:solidFill>
                  <a:srgbClr val="FFFFFF"/>
                </a:solidFill>
                <a:latin typeface="Calibri"/>
              </a:defRPr>
            </a:pPr>
            <a:r>
              <a:t>Lower operating cost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840480"/>
            <a:ext cx="5303520" cy="2011680"/>
          </a:xfrm>
          <a:prstGeom prst="roundRect">
            <a:avLst/>
          </a:prstGeom>
          <a:solidFill>
            <a:srgbClr val="00B8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114800"/>
            <a:ext cx="47548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 b="1">
                <a:solidFill>
                  <a:srgbClr val="FFFFFF"/>
                </a:solidFill>
              </a:defRPr>
            </a:pPr>
            <a:r>
              <a:t>Electricians</a:t>
            </a:r>
          </a:p>
          <a:p>
            <a:pPr>
              <a:defRPr sz="1600">
                <a:solidFill>
                  <a:srgbClr val="FFFFFF"/>
                </a:solidFill>
                <a:latin typeface="Calibri"/>
              </a:defRPr>
            </a:pPr>
            <a:r>
              <a:t>New service revenue</a:t>
            </a:r>
          </a:p>
          <a:p>
            <a:pPr>
              <a:defRPr sz="1600">
                <a:solidFill>
                  <a:srgbClr val="FFFFFF"/>
                </a:solidFill>
                <a:latin typeface="Calibri"/>
              </a:defRPr>
            </a:pPr>
            <a:r>
              <a:t>Trusted product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43600" y="3840480"/>
            <a:ext cx="5303520" cy="2011680"/>
          </a:xfrm>
          <a:prstGeom prst="round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0" y="4114800"/>
            <a:ext cx="47548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 b="1">
                <a:solidFill>
                  <a:srgbClr val="FFFFFF"/>
                </a:solidFill>
              </a:defRPr>
            </a:pPr>
            <a:r>
              <a:t>Public Sector</a:t>
            </a:r>
          </a:p>
          <a:p>
            <a:pPr>
              <a:defRPr sz="1600">
                <a:solidFill>
                  <a:srgbClr val="FFFFFF"/>
                </a:solidFill>
                <a:latin typeface="Calibri"/>
              </a:defRPr>
            </a:pPr>
            <a:r>
              <a:t>Compliance</a:t>
            </a:r>
          </a:p>
          <a:p>
            <a:pPr>
              <a:defRPr sz="1600">
                <a:solidFill>
                  <a:srgbClr val="FFFFFF"/>
                </a:solidFill>
                <a:latin typeface="Calibri"/>
              </a:defRPr>
            </a:pPr>
            <a:r>
              <a:t>Sustainability goals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73152"/>
          </a:xfrm>
          <a:prstGeom prst="rect">
            <a:avLst/>
          </a:prstGeom>
          <a:solidFill>
            <a:srgbClr val="007A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2860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Calibri"/>
              </a:defRPr>
            </a:pPr>
            <a:r>
              <a:t>Market Opportunity (UK)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029200" cy="1828800"/>
          </a:xfrm>
          <a:prstGeom prst="roundRect">
            <a:avLst/>
          </a:prstGeom>
          <a:solidFill>
            <a:srgbClr val="F4F6F8"/>
          </a:solidFill>
          <a:ln>
            <a:solidFill>
              <a:srgbClr val="DD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965960"/>
            <a:ext cx="5029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007AE6"/>
                </a:solidFill>
              </a:defRPr>
            </a:pPr>
            <a:r>
              <a:t>£2.4B+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74320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1A1A2E"/>
                </a:solidFill>
              </a:defRPr>
            </a:pPr>
            <a:r>
              <a:t>Market size 2023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35040" y="1645920"/>
            <a:ext cx="5029200" cy="1828800"/>
          </a:xfrm>
          <a:prstGeom prst="roundRect">
            <a:avLst/>
          </a:prstGeom>
          <a:solidFill>
            <a:srgbClr val="F4F6F8"/>
          </a:solidFill>
          <a:ln>
            <a:solidFill>
              <a:srgbClr val="DD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0" y="1965960"/>
            <a:ext cx="5029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007AE6"/>
                </a:solidFill>
              </a:defRPr>
            </a:pPr>
            <a:r>
              <a:t>12.6%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0" y="274320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1A1A2E"/>
                </a:solidFill>
              </a:defRPr>
            </a:pPr>
            <a:r>
              <a:t>Projected annual growth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931920"/>
            <a:ext cx="5029200" cy="1828800"/>
          </a:xfrm>
          <a:prstGeom prst="roundRect">
            <a:avLst/>
          </a:prstGeom>
          <a:solidFill>
            <a:srgbClr val="F4F6F8"/>
          </a:solidFill>
          <a:ln>
            <a:solidFill>
              <a:srgbClr val="DD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4251959"/>
            <a:ext cx="5029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007AE6"/>
                </a:solidFill>
              </a:defRPr>
            </a:pPr>
            <a:r>
              <a:t>2025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502920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1A1A2E"/>
                </a:solidFill>
              </a:defRPr>
            </a:pPr>
            <a:r>
              <a:t>UK smart meter rollout target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35040" y="3931920"/>
            <a:ext cx="5029200" cy="1828800"/>
          </a:xfrm>
          <a:prstGeom prst="roundRect">
            <a:avLst/>
          </a:prstGeom>
          <a:solidFill>
            <a:srgbClr val="F4F6F8"/>
          </a:solidFill>
          <a:ln>
            <a:solidFill>
              <a:srgbClr val="DD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35040" y="4251959"/>
            <a:ext cx="5029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007AE6"/>
                </a:solidFill>
              </a:defRPr>
            </a:pPr>
            <a:r>
              <a:t>High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35040" y="502920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1A1A2E"/>
                </a:solidFill>
              </a:defRPr>
            </a:pPr>
            <a:r>
              <a:t>Demand for safety + efficiency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73152"/>
          </a:xfrm>
          <a:prstGeom prst="rect">
            <a:avLst/>
          </a:prstGeom>
          <a:solidFill>
            <a:srgbClr val="007A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2860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Calibri"/>
              </a:defRPr>
            </a:pPr>
            <a:r>
              <a:t>Why ElecSecure Can Win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463040"/>
          <a:ext cx="1069848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03520"/>
                <a:gridCol w="5394960"/>
              </a:tblGrid>
              <a:tr h="822960">
                <a:tc>
                  <a:txBody>
                    <a:bodyPr/>
                    <a:lstStyle/>
                    <a:p>
                      <a:pPr algn="ctr">
                        <a:defRPr b="1" sz="1600">
                          <a:solidFill>
                            <a:srgbClr val="FFFFFF"/>
                          </a:solidFill>
                        </a:defRPr>
                      </a:pPr>
                      <a:r>
                        <a:t>Typical alternatives</a:t>
                      </a:r>
                    </a:p>
                  </a:txBody>
                  <a:tcPr>
                    <a:solidFill>
                      <a:srgbClr val="5A6A7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600">
                          <a:solidFill>
                            <a:srgbClr val="FFFFFF"/>
                          </a:solidFill>
                        </a:defRPr>
                      </a:pPr>
                      <a:r>
                        <a:t>ElecSecure</a:t>
                      </a:r>
                    </a:p>
                  </a:txBody>
                  <a:tcPr>
                    <a:solidFill>
                      <a:srgbClr val="0B1F3A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1A1A2E"/>
                          </a:solidFill>
                        </a:defRPr>
                      </a:pPr>
                      <a:r>
                        <a:t>Thermostats / plugs only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1A1A2E"/>
                          </a:solidFill>
                        </a:defRPr>
                      </a:pPr>
                      <a:r>
                        <a:t>Full electrical system intelligence</a:t>
                      </a:r>
                    </a:p>
                  </a:txBody>
                  <a:tcPr>
                    <a:solidFill>
                      <a:srgbClr val="E8F4FD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1A1A2E"/>
                          </a:solidFill>
                        </a:defRPr>
                      </a:pPr>
                      <a:r>
                        <a:t>Passive protection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1A1A2E"/>
                          </a:solidFill>
                        </a:defRPr>
                      </a:pPr>
                      <a:r>
                        <a:t>Active monitoring + alerts</a:t>
                      </a:r>
                    </a:p>
                  </a:txBody>
                  <a:tcPr>
                    <a:solidFill>
                      <a:srgbClr val="E8F4FD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1A1A2E"/>
                          </a:solidFill>
                        </a:defRPr>
                      </a:pPr>
                      <a:r>
                        <a:t>Energy tracking only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1A1A2E"/>
                          </a:solidFill>
                        </a:defRPr>
                      </a:pPr>
                      <a:r>
                        <a:t>Safety + efficiency + control</a:t>
                      </a:r>
                    </a:p>
                  </a:txBody>
                  <a:tcPr>
                    <a:solidFill>
                      <a:srgbClr val="E8F4FD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1A1A2E"/>
                          </a:solidFill>
                        </a:defRPr>
                      </a:pPr>
                      <a:r>
                        <a:t>Disconnected devices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1A1A2E"/>
                          </a:solidFill>
                        </a:defRPr>
                      </a:pPr>
                      <a:r>
                        <a:t>Integrated smart ecosystem</a:t>
                      </a:r>
                    </a:p>
                  </a:txBody>
                  <a:tcPr>
                    <a:solidFill>
                      <a:srgbClr val="E8F4FD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73152"/>
          </a:xfrm>
          <a:prstGeom prst="rect">
            <a:avLst/>
          </a:prstGeom>
          <a:solidFill>
            <a:srgbClr val="007A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2860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Calibri"/>
              </a:defRPr>
            </a:pPr>
            <a:r>
              <a:t>Business Model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1554480"/>
            <a:ext cx="10332720" cy="1280160"/>
          </a:xfrm>
          <a:prstGeom prst="roundRect">
            <a:avLst/>
          </a:prstGeom>
          <a:solidFill>
            <a:srgbClr val="F4F6F8"/>
          </a:solidFill>
          <a:ln>
            <a:solidFill>
              <a:srgbClr val="DD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1737360"/>
            <a:ext cx="4114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B1F3A"/>
                </a:solidFill>
              </a:defRPr>
            </a:pPr>
            <a:r>
              <a:t>Device Sales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0" y="1691639"/>
            <a:ext cx="1828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07AE6"/>
                </a:solidFill>
              </a:defRPr>
            </a:pPr>
            <a:r>
              <a:t>£300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0" y="1783080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5A6A7A"/>
                </a:solidFill>
              </a:defRPr>
            </a:pPr>
            <a:r>
              <a:t>One-time hardware revenue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3108960"/>
            <a:ext cx="10332720" cy="1280160"/>
          </a:xfrm>
          <a:prstGeom prst="roundRect">
            <a:avLst/>
          </a:prstGeom>
          <a:solidFill>
            <a:srgbClr val="F4F6F8"/>
          </a:solidFill>
          <a:ln>
            <a:solidFill>
              <a:srgbClr val="DD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20" y="3291840"/>
            <a:ext cx="4114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B1F3A"/>
                </a:solidFill>
              </a:defRPr>
            </a:pPr>
            <a:r>
              <a:t>Subscription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0" y="3246120"/>
            <a:ext cx="1828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07AE6"/>
                </a:solidFill>
              </a:defRPr>
            </a:pPr>
            <a:r>
              <a:t>£49/mo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0" y="3337560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5A6A7A"/>
                </a:solidFill>
              </a:defRPr>
            </a:pPr>
            <a:r>
              <a:t>Cloud monitoring, updates, analytics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4663440"/>
            <a:ext cx="10332720" cy="1280160"/>
          </a:xfrm>
          <a:prstGeom prst="roundRect">
            <a:avLst/>
          </a:prstGeom>
          <a:solidFill>
            <a:srgbClr val="F4F6F8"/>
          </a:solidFill>
          <a:ln>
            <a:solidFill>
              <a:srgbClr val="DD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88720" y="4846320"/>
            <a:ext cx="4114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B1F3A"/>
                </a:solidFill>
              </a:defRPr>
            </a:pPr>
            <a:r>
              <a:t>Support Services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0" y="4800600"/>
            <a:ext cx="1828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07AE6"/>
                </a:solidFill>
              </a:defRPr>
            </a:pPr>
            <a:r>
              <a:t>£115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0" y="4892040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5A6A7A"/>
                </a:solidFill>
              </a:defRPr>
            </a:pPr>
            <a:r>
              <a:t>Maintenance and technical assistance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73152"/>
          </a:xfrm>
          <a:prstGeom prst="rect">
            <a:avLst/>
          </a:prstGeom>
          <a:solidFill>
            <a:srgbClr val="007A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2860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Calibri"/>
              </a:defRPr>
            </a:pPr>
            <a:r>
              <a:t>3-Year Roadmap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45920"/>
            <a:ext cx="3383280" cy="4114800"/>
          </a:xfrm>
          <a:prstGeom prst="roundRect">
            <a:avLst/>
          </a:prstGeom>
          <a:solidFill>
            <a:srgbClr val="007A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1828800"/>
            <a:ext cx="30175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400" b="1">
                <a:solidFill>
                  <a:srgbClr val="FFFFFF"/>
                </a:solidFill>
              </a:defRPr>
            </a:pPr>
            <a:r>
              <a:t>Year 1</a:t>
            </a:r>
          </a:p>
          <a:p>
            <a:pPr>
              <a:spcAft>
                <a:spcPts val="600"/>
              </a:spcAft>
              <a:defRPr sz="1800" b="1">
                <a:solidFill>
                  <a:srgbClr val="FFFFFF"/>
                </a:solidFill>
              </a:defRPr>
            </a:pPr>
            <a:r>
              <a:t>Launch</a:t>
            </a:r>
          </a:p>
          <a:p>
            <a:pPr>
              <a:spcAft>
                <a:spcPts val="600"/>
              </a:spcAft>
              <a:defRPr sz="1400">
                <a:solidFill>
                  <a:srgbClr val="FFFFFF"/>
                </a:solidFill>
              </a:defRPr>
            </a:pPr>
          </a:p>
          <a:p>
            <a:pPr>
              <a:spcAft>
                <a:spcPts val="600"/>
              </a:spcAft>
              <a:defRPr sz="1400">
                <a:solidFill>
                  <a:srgbClr val="FFFFFF"/>
                </a:solidFill>
              </a:defRPr>
            </a:pPr>
            <a:r>
              <a:t>400 customers</a:t>
            </a:r>
          </a:p>
          <a:p>
            <a:pPr>
              <a:spcAft>
                <a:spcPts val="600"/>
              </a:spcAft>
              <a:defRPr sz="1400">
                <a:solidFill>
                  <a:srgbClr val="FFFFFF"/>
                </a:solidFill>
              </a:defRPr>
            </a:pPr>
            <a:r>
              <a:t>UK pilot regions</a:t>
            </a:r>
          </a:p>
          <a:p>
            <a:pPr>
              <a:spcAft>
                <a:spcPts val="600"/>
              </a:spcAft>
              <a:defRPr sz="1400">
                <a:solidFill>
                  <a:srgbClr val="FFFFFF"/>
                </a:solidFill>
              </a:defRPr>
            </a:pPr>
            <a:r>
              <a:t>Certification &amp; brand build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645920"/>
            <a:ext cx="3383280" cy="4114800"/>
          </a:xfrm>
          <a:prstGeom prst="roundRect">
            <a:avLst/>
          </a:prstGeom>
          <a:solidFill>
            <a:srgbClr val="00B8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0" y="1828800"/>
            <a:ext cx="30175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400" b="1">
                <a:solidFill>
                  <a:srgbClr val="FFFFFF"/>
                </a:solidFill>
              </a:defRPr>
            </a:pPr>
            <a:r>
              <a:t>Year 2</a:t>
            </a:r>
          </a:p>
          <a:p>
            <a:pPr>
              <a:spcAft>
                <a:spcPts val="600"/>
              </a:spcAft>
              <a:defRPr sz="1800" b="1">
                <a:solidFill>
                  <a:srgbClr val="FFFFFF"/>
                </a:solidFill>
              </a:defRPr>
            </a:pPr>
            <a:r>
              <a:t>Scale</a:t>
            </a:r>
          </a:p>
          <a:p>
            <a:pPr>
              <a:spcAft>
                <a:spcPts val="600"/>
              </a:spcAft>
              <a:defRPr sz="1400">
                <a:solidFill>
                  <a:srgbClr val="FFFFFF"/>
                </a:solidFill>
              </a:defRPr>
            </a:pPr>
          </a:p>
          <a:p>
            <a:pPr>
              <a:spcAft>
                <a:spcPts val="600"/>
              </a:spcAft>
              <a:defRPr sz="1400">
                <a:solidFill>
                  <a:srgbClr val="FFFFFF"/>
                </a:solidFill>
              </a:defRPr>
            </a:pPr>
            <a:r>
              <a:t>800 customers</a:t>
            </a:r>
          </a:p>
          <a:p>
            <a:pPr>
              <a:spcAft>
                <a:spcPts val="600"/>
              </a:spcAft>
              <a:defRPr sz="1400">
                <a:solidFill>
                  <a:srgbClr val="FFFFFF"/>
                </a:solidFill>
              </a:defRPr>
            </a:pPr>
            <a:r>
              <a:t>Nationwide growth</a:t>
            </a:r>
          </a:p>
          <a:p>
            <a:pPr>
              <a:spcAft>
                <a:spcPts val="600"/>
              </a:spcAft>
              <a:defRPr sz="1400">
                <a:solidFill>
                  <a:srgbClr val="FFFFFF"/>
                </a:solidFill>
              </a:defRPr>
            </a:pPr>
            <a:r>
              <a:t>Profitability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38159" y="1645920"/>
            <a:ext cx="3383280" cy="4114800"/>
          </a:xfrm>
          <a:prstGeom prst="round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21039" y="1828800"/>
            <a:ext cx="30175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400" b="1">
                <a:solidFill>
                  <a:srgbClr val="FFFFFF"/>
                </a:solidFill>
              </a:defRPr>
            </a:pPr>
            <a:r>
              <a:t>Year 3</a:t>
            </a:r>
          </a:p>
          <a:p>
            <a:pPr>
              <a:spcAft>
                <a:spcPts val="600"/>
              </a:spcAft>
              <a:defRPr sz="1800" b="1">
                <a:solidFill>
                  <a:srgbClr val="FFFFFF"/>
                </a:solidFill>
              </a:defRPr>
            </a:pPr>
            <a:r>
              <a:t>Lead</a:t>
            </a:r>
          </a:p>
          <a:p>
            <a:pPr>
              <a:spcAft>
                <a:spcPts val="600"/>
              </a:spcAft>
              <a:defRPr sz="1400">
                <a:solidFill>
                  <a:srgbClr val="FFFFFF"/>
                </a:solidFill>
              </a:defRPr>
            </a:pPr>
          </a:p>
          <a:p>
            <a:pPr>
              <a:spcAft>
                <a:spcPts val="600"/>
              </a:spcAft>
              <a:defRPr sz="1400">
                <a:solidFill>
                  <a:srgbClr val="FFFFFF"/>
                </a:solidFill>
              </a:defRPr>
            </a:pPr>
            <a:r>
              <a:t>1,500 customers</a:t>
            </a:r>
          </a:p>
          <a:p>
            <a:pPr>
              <a:spcAft>
                <a:spcPts val="600"/>
              </a:spcAft>
              <a:defRPr sz="1400">
                <a:solidFill>
                  <a:srgbClr val="FFFFFF"/>
                </a:solidFill>
              </a:defRPr>
            </a:pPr>
            <a:r>
              <a:t>International expansion</a:t>
            </a:r>
          </a:p>
          <a:p>
            <a:pPr>
              <a:spcAft>
                <a:spcPts val="600"/>
              </a:spcAft>
              <a:defRPr sz="1400">
                <a:solidFill>
                  <a:srgbClr val="FFFFFF"/>
                </a:solidFill>
              </a:defRPr>
            </a:pPr>
            <a:r>
              <a:t>Market leadership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73152"/>
          </a:xfrm>
          <a:prstGeom prst="rect">
            <a:avLst/>
          </a:prstGeom>
          <a:solidFill>
            <a:srgbClr val="007A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2860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Calibri"/>
              </a:defRPr>
            </a:pPr>
            <a:r>
              <a:t>Financial Outlook (High Level)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10698480" cy="1097280"/>
          </a:xfrm>
          <a:prstGeom prst="roundRect">
            <a:avLst/>
          </a:prstGeom>
          <a:solidFill>
            <a:srgbClr val="F4F6F8"/>
          </a:solidFill>
          <a:ln>
            <a:solidFill>
              <a:srgbClr val="DD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874519"/>
            <a:ext cx="1371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B1F3A"/>
                </a:solidFill>
              </a:defRPr>
            </a:pPr>
            <a:r>
              <a:t>Year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60320" y="1874519"/>
            <a:ext cx="3657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7AE6"/>
                </a:solidFill>
              </a:defRPr>
            </a:pPr>
            <a:r>
              <a:t>£235K revenue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1920240"/>
            <a:ext cx="4389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5A6A7A"/>
                </a:solidFill>
              </a:defRPr>
            </a:pPr>
            <a:r>
              <a:t>Foundation year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017520"/>
            <a:ext cx="10698480" cy="1097280"/>
          </a:xfrm>
          <a:prstGeom prst="roundRect">
            <a:avLst/>
          </a:prstGeom>
          <a:solidFill>
            <a:srgbClr val="F4F6F8"/>
          </a:solidFill>
          <a:ln>
            <a:solidFill>
              <a:srgbClr val="DD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3246120"/>
            <a:ext cx="1371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B1F3A"/>
                </a:solidFill>
              </a:defRPr>
            </a:pPr>
            <a:r>
              <a:t>Year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60320" y="3246120"/>
            <a:ext cx="3657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7AE6"/>
                </a:solidFill>
              </a:defRPr>
            </a:pPr>
            <a:r>
              <a:t>£751K revenue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3291839"/>
            <a:ext cx="4389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5A6A7A"/>
                </a:solidFill>
              </a:defRPr>
            </a:pPr>
            <a:r>
              <a:t>£154K profit after tax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389120"/>
            <a:ext cx="10698480" cy="1097280"/>
          </a:xfrm>
          <a:prstGeom prst="roundRect">
            <a:avLst/>
          </a:prstGeom>
          <a:solidFill>
            <a:srgbClr val="F4F6F8"/>
          </a:solidFill>
          <a:ln>
            <a:solidFill>
              <a:srgbClr val="DD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4617720"/>
            <a:ext cx="1371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B1F3A"/>
                </a:solidFill>
              </a:defRPr>
            </a:pPr>
            <a:r>
              <a:t>Year 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60320" y="4617720"/>
            <a:ext cx="3657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7AE6"/>
                </a:solidFill>
              </a:defRPr>
            </a:pPr>
            <a:r>
              <a:t>£1.42M revenue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4663440"/>
            <a:ext cx="4389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5A6A7A"/>
                </a:solidFill>
              </a:defRPr>
            </a:pPr>
            <a:r>
              <a:t>£448K profit after tax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73152"/>
          </a:xfrm>
          <a:prstGeom prst="rect">
            <a:avLst/>
          </a:prstGeom>
          <a:solidFill>
            <a:srgbClr val="007A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2860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Calibri"/>
              </a:defRPr>
            </a:pPr>
            <a:r>
              <a:t>Leadership &amp; Delivery Team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200">
                <a:solidFill>
                  <a:srgbClr val="1A1A2E"/>
                </a:solidFill>
                <a:latin typeface="Calibri"/>
              </a:defRPr>
            </a:pPr>
            <a:r>
              <a:t>Managing Director: Azfar Mushtaq</a:t>
            </a:r>
          </a:p>
          <a:p>
            <a:pPr>
              <a:spcAft>
                <a:spcPts val="1400"/>
              </a:spcAft>
              <a:defRPr sz="2200">
                <a:solidFill>
                  <a:srgbClr val="1A1A2E"/>
                </a:solidFill>
                <a:latin typeface="Calibri"/>
              </a:defRPr>
            </a:pPr>
            <a:r>
              <a:t>Software development and mobile platform</a:t>
            </a:r>
          </a:p>
          <a:p>
            <a:pPr>
              <a:spcAft>
                <a:spcPts val="1400"/>
              </a:spcAft>
              <a:defRPr sz="2200">
                <a:solidFill>
                  <a:srgbClr val="1A1A2E"/>
                </a:solidFill>
                <a:latin typeface="Calibri"/>
              </a:defRPr>
            </a:pPr>
            <a:r>
              <a:t>Electrical engineering and QA</a:t>
            </a:r>
          </a:p>
          <a:p>
            <a:pPr>
              <a:spcAft>
                <a:spcPts val="1400"/>
              </a:spcAft>
              <a:defRPr sz="2200">
                <a:solidFill>
                  <a:srgbClr val="1A1A2E"/>
                </a:solidFill>
                <a:latin typeface="Calibri"/>
              </a:defRPr>
            </a:pPr>
            <a:r>
              <a:t>Data science and analytics</a:t>
            </a:r>
          </a:p>
          <a:p>
            <a:pPr>
              <a:spcAft>
                <a:spcPts val="1400"/>
              </a:spcAft>
              <a:defRPr sz="2200">
                <a:solidFill>
                  <a:srgbClr val="1A1A2E"/>
                </a:solidFill>
                <a:latin typeface="Calibri"/>
              </a:defRPr>
            </a:pPr>
            <a:r>
              <a:t>Sales, marketing, and customer operations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73152"/>
          </a:xfrm>
          <a:prstGeom prst="rect">
            <a:avLst/>
          </a:prstGeom>
          <a:solidFill>
            <a:srgbClr val="007A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2860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Calibri"/>
              </a:defRPr>
            </a:pPr>
            <a:r>
              <a:t>Impact Beyond Revenue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200">
                <a:solidFill>
                  <a:srgbClr val="1A1A2E"/>
                </a:solidFill>
                <a:latin typeface="Calibri"/>
              </a:defRPr>
            </a:pPr>
            <a:r>
              <a:t>Job creation: installers, support, engineering, sales</a:t>
            </a:r>
          </a:p>
          <a:p>
            <a:pPr>
              <a:spcAft>
                <a:spcPts val="1400"/>
              </a:spcAft>
              <a:defRPr sz="2200">
                <a:solidFill>
                  <a:srgbClr val="1A1A2E"/>
                </a:solidFill>
                <a:latin typeface="Calibri"/>
              </a:defRPr>
            </a:pPr>
            <a:r>
              <a:t>Reduced electrical fire and downtime risk</a:t>
            </a:r>
          </a:p>
          <a:p>
            <a:pPr>
              <a:spcAft>
                <a:spcPts val="1400"/>
              </a:spcAft>
              <a:defRPr sz="2200">
                <a:solidFill>
                  <a:srgbClr val="1A1A2E"/>
                </a:solidFill>
                <a:latin typeface="Calibri"/>
              </a:defRPr>
            </a:pPr>
            <a:r>
              <a:t>Lower energy waste and carbon footprint</a:t>
            </a:r>
          </a:p>
          <a:p>
            <a:pPr>
              <a:spcAft>
                <a:spcPts val="1400"/>
              </a:spcAft>
              <a:defRPr sz="2200">
                <a:solidFill>
                  <a:srgbClr val="1A1A2E"/>
                </a:solidFill>
                <a:latin typeface="Calibri"/>
              </a:defRPr>
            </a:pPr>
            <a:r>
              <a:t>Supports UK safety and efficiency policy goals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73152"/>
          </a:xfrm>
          <a:prstGeom prst="rect">
            <a:avLst/>
          </a:prstGeom>
          <a:solidFill>
            <a:srgbClr val="007A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2860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Calibri"/>
              </a:defRPr>
            </a:pPr>
            <a:r>
              <a:t>Risks &amp; Mitigation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47548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8C42"/>
                </a:solidFill>
              </a:defRPr>
            </a:pPr>
            <a:r>
              <a:t>⚠  Low brand awareness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0" y="1463040"/>
            <a:ext cx="54864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00B8A9"/>
                </a:solidFill>
              </a:defRPr>
            </a:pPr>
            <a:r>
              <a:t>✓  Targeted launch + partner channels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06040"/>
            <a:ext cx="47548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8C42"/>
                </a:solidFill>
              </a:defRPr>
            </a:pPr>
            <a:r>
              <a:t>⚠  Upfront investment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0" y="2606040"/>
            <a:ext cx="54864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00B8A9"/>
                </a:solidFill>
              </a:defRPr>
            </a:pPr>
            <a:r>
              <a:t>✓  Phased rollout + strategic funding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749039"/>
            <a:ext cx="47548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8C42"/>
                </a:solidFill>
              </a:defRPr>
            </a:pPr>
            <a:r>
              <a:t>⚠  Regulatory complexity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0" y="3749039"/>
            <a:ext cx="54864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00B8A9"/>
                </a:solidFill>
              </a:defRPr>
            </a:pPr>
            <a:r>
              <a:t>✓  Early UK certification pathway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892040"/>
            <a:ext cx="47548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8C42"/>
                </a:solidFill>
              </a:defRPr>
            </a:pPr>
            <a:r>
              <a:t>⚠  Fast tech change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0" y="4892040"/>
            <a:ext cx="54864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00B8A9"/>
                </a:solidFill>
              </a:defRPr>
            </a:pPr>
            <a:r>
              <a:t>✓  Continuous R&amp;D and product updates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73152"/>
          </a:xfrm>
          <a:prstGeom prst="rect">
            <a:avLst/>
          </a:prstGeom>
          <a:solidFill>
            <a:srgbClr val="007A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2860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Calibri"/>
              </a:defRPr>
            </a:pPr>
            <a:r>
              <a:t>What We Need From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200">
                <a:solidFill>
                  <a:srgbClr val="1A1A2E"/>
                </a:solidFill>
                <a:latin typeface="Calibri"/>
              </a:defRPr>
            </a:pPr>
            <a:r>
              <a:t>Leadership: endorse phased execution and resourcing</a:t>
            </a:r>
          </a:p>
          <a:p>
            <a:pPr>
              <a:spcAft>
                <a:spcPts val="1400"/>
              </a:spcAft>
              <a:defRPr sz="2200">
                <a:solidFill>
                  <a:srgbClr val="1A1A2E"/>
                </a:solidFill>
                <a:latin typeface="Calibri"/>
              </a:defRPr>
            </a:pPr>
            <a:r>
              <a:t>Teams: identify collaboration and integration opportunities</a:t>
            </a:r>
          </a:p>
          <a:p>
            <a:pPr>
              <a:spcAft>
                <a:spcPts val="1400"/>
              </a:spcAft>
              <a:defRPr sz="2200">
                <a:solidFill>
                  <a:srgbClr val="1A1A2E"/>
                </a:solidFill>
                <a:latin typeface="Calibri"/>
              </a:defRPr>
            </a:pPr>
            <a:r>
              <a:t>Everyone: connect us with potential customers and partners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71600" y="4572000"/>
            <a:ext cx="9418320" cy="914400"/>
          </a:xfrm>
          <a:prstGeom prst="roundRect">
            <a:avLst/>
          </a:prstGeom>
          <a:solidFill>
            <a:srgbClr val="007A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800" b="1">
                <a:solidFill>
                  <a:srgbClr val="FFFFFF"/>
                </a:solidFill>
                <a:latin typeface="Calibri"/>
              </a:defRPr>
            </a:pPr>
            <a:r>
              <a:t>Together, we make electricity safer and smarter.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286000"/>
            <a:ext cx="10515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</a:defRPr>
            </a:pPr>
            <a: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474720"/>
            <a:ext cx="10515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>
                <a:solidFill>
                  <a:srgbClr val="00B8A9"/>
                </a:solidFill>
              </a:defRPr>
            </a:pPr>
            <a:r>
              <a:t>Questions &amp; Discussion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5A6A7A"/>
                </a:solidFill>
              </a:defRPr>
            </a:pPr>
            <a:r>
              <a:t>ElecSecure | Smart Electrical Safety &amp; Energy Management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